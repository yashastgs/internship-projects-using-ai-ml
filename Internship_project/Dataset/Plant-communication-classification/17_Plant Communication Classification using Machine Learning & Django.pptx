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4.xml" ContentType="application/vnd.openxmlformats-officedocument.presentationml.tags+xml"/>
  <Override PartName="/ppt/notesSlides/notesSlide1.xml" ContentType="application/vnd.openxmlformats-officedocument.presentationml.notesSlide+xml"/>
  <Override PartName="/ppt/tags/tag25.xml" ContentType="application/vnd.openxmlformats-officedocument.presentationml.tags+xml"/>
  <Override PartName="/ppt/notesSlides/notesSlide2.xml" ContentType="application/vnd.openxmlformats-officedocument.presentationml.notesSlide+xml"/>
  <Override PartName="/ppt/tags/tag26.xml" ContentType="application/vnd.openxmlformats-officedocument.presentationml.tags+xml"/>
  <Override PartName="/ppt/notesSlides/notesSlide3.xml" ContentType="application/vnd.openxmlformats-officedocument.presentationml.notesSlide+xml"/>
  <Override PartName="/ppt/tags/tag27.xml" ContentType="application/vnd.openxmlformats-officedocument.presentationml.tags+xml"/>
  <Override PartName="/ppt/notesSlides/notesSlide4.xml" ContentType="application/vnd.openxmlformats-officedocument.presentationml.notesSlide+xml"/>
  <Override PartName="/ppt/tags/tag28.xml" ContentType="application/vnd.openxmlformats-officedocument.presentationml.tags+xml"/>
  <Override PartName="/ppt/notesSlides/notesSlide5.xml" ContentType="application/vnd.openxmlformats-officedocument.presentationml.notesSlide+xml"/>
  <Override PartName="/ppt/tags/tag29.xml" ContentType="application/vnd.openxmlformats-officedocument.presentationml.tags+xml"/>
  <Override PartName="/ppt/notesSlides/notesSlide6.xml" ContentType="application/vnd.openxmlformats-officedocument.presentationml.notesSlide+xml"/>
  <Override PartName="/ppt/tags/tag30.xml" ContentType="application/vnd.openxmlformats-officedocument.presentationml.tags+xml"/>
  <Override PartName="/ppt/notesSlides/notesSlide7.xml" ContentType="application/vnd.openxmlformats-officedocument.presentationml.notesSlide+xml"/>
  <Override PartName="/ppt/tags/tag31.xml" ContentType="application/vnd.openxmlformats-officedocument.presentationml.tags+xml"/>
  <Override PartName="/ppt/notesSlides/notesSlide8.xml" ContentType="application/vnd.openxmlformats-officedocument.presentationml.notesSlide+xml"/>
  <Override PartName="/ppt/tags/tag3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25" r:id="rId2"/>
    <p:sldId id="330" r:id="rId3"/>
    <p:sldId id="331" r:id="rId4"/>
    <p:sldId id="336" r:id="rId5"/>
    <p:sldId id="337" r:id="rId6"/>
    <p:sldId id="339" r:id="rId7"/>
    <p:sldId id="338" r:id="rId8"/>
    <p:sldId id="341" r:id="rId9"/>
    <p:sldId id="340" r:id="rId10"/>
    <p:sldId id="335" r:id="rId11"/>
    <p:sldId id="334" r:id="rId12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1175F7C-D3AE-4DF4-A18A-BD39A4090E08}">
          <p14:sldIdLst>
            <p14:sldId id="325"/>
            <p14:sldId id="330"/>
            <p14:sldId id="331"/>
            <p14:sldId id="336"/>
          </p14:sldIdLst>
        </p14:section>
        <p14:section name="Untitled Section" id="{E46B0DB8-91E3-4E97-8DD0-C6A619090BEB}">
          <p14:sldIdLst>
            <p14:sldId id="337"/>
            <p14:sldId id="339"/>
            <p14:sldId id="338"/>
            <p14:sldId id="341"/>
            <p14:sldId id="340"/>
            <p14:sldId id="335"/>
            <p14:sldId id="33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3366"/>
    <a:srgbClr val="FF0066"/>
    <a:srgbClr val="CC3300"/>
    <a:srgbClr val="F3BE21"/>
    <a:srgbClr val="E4A53E"/>
    <a:srgbClr val="48CAD9"/>
    <a:srgbClr val="F4AD69"/>
    <a:srgbClr val="403E3E"/>
    <a:srgbClr val="3DE0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3" autoAdjust="0"/>
    <p:restoredTop sz="93741" autoAdjust="0"/>
  </p:normalViewPr>
  <p:slideViewPr>
    <p:cSldViewPr snapToGrid="0" showGuides="1">
      <p:cViewPr>
        <p:scale>
          <a:sx n="50" d="100"/>
          <a:sy n="50" d="100"/>
        </p:scale>
        <p:origin x="141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0" d="100"/>
          <a:sy n="70" d="100"/>
        </p:scale>
        <p:origin x="2416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33701D-4330-4EE7-9BF0-6431F8E2A6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CF998-A782-4C8A-8747-A2CA7D048A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C422E-181F-4E69-B889-4841EA1EE446}" type="datetimeFigureOut">
              <a:rPr lang="en-ID" smtClean="0"/>
              <a:t>29/03/2026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3B75D-11DD-4E29-B21A-3BEFD7843A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2A97F-C387-40BF-A80D-9B120372ED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1A19D-7FE1-442D-97C1-2F2B47ADDD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67631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0B7041-6594-4BE2-8703-78B4E00C91E5}" type="datetimeFigureOut">
              <a:rPr lang="en-ID" smtClean="0"/>
              <a:t>29/03/2026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E837E-594B-4F0F-92F5-F20D4296AC5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832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anniespratt?utm_source=unsplash&amp;utm_medium=referral&amp;utm_content=creditCopyText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team?utm_source=unsplash&amp;utm_medium=referral&amp;utm_content=creditCopyText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new_data_services?utm_source=unsplash&amp;utm_medium=referral&amp;utm_content=creditCopyText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work?utm_source=unsplash&amp;utm_medium=referral&amp;utm_content=creditCopyText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new_data_services?utm_source=unsplash&amp;utm_medium=referral&amp;utm_content=creditCopyText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work?utm_source=unsplash&amp;utm_medium=referral&amp;utm_content=creditCopyText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new_data_services?utm_source=unsplash&amp;utm_medium=referral&amp;utm_content=creditCopyText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work?utm_source=unsplash&amp;utm_medium=referral&amp;utm_content=creditCopyText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new_data_services?utm_source=unsplash&amp;utm_medium=referral&amp;utm_content=creditCopyText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work?utm_source=unsplash&amp;utm_medium=referral&amp;utm_content=creditCopyText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new_data_services?utm_source=unsplash&amp;utm_medium=referral&amp;utm_content=creditCopyText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work?utm_source=unsplash&amp;utm_medium=referral&amp;utm_content=creditCopyText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new_data_services?utm_source=unsplash&amp;utm_medium=referral&amp;utm_content=creditCopyText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work?utm_source=unsplash&amp;utm_medium=referral&amp;utm_content=creditCopyText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new_data_services?utm_source=unsplash&amp;utm_medium=referral&amp;utm_content=creditCopyText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work?utm_source=unsplash&amp;utm_medium=referral&amp;utm_content=creditCopyText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epicantus?utm_source=unsplash&amp;utm_medium=referral&amp;utm_content=creditCopyText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remote-work?utm_source=unsplash&amp;utm_medium=referral&amp;utm_content=creditCopyTex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1746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Annie Spratt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7102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NEW DATA SERVICES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392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1C6BE-7D92-6237-969E-45C230896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D8975-F799-A3E5-8A49-DB80C8043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1B302-9016-2614-08F3-82B09851C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NEW DATA SERVICES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427C2-872E-8CD5-486C-D1C1E87FB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8189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CA43C-58F2-A4CF-F115-2E42F521C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B2822-189A-6889-8E58-1DA1DA037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8DF8E-05C5-81BC-5934-781DA7CFE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NEW DATA SERVICES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1148D-BB67-13FA-BB4A-780D3CB6D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7811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5D133-6FAF-29E3-298D-2D27219C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A77CD-2286-7234-0C2C-707023291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20178-3785-BB91-7FB3-192A0F49B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NEW DATA SERVICES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41CD5-E7AC-92CE-ACB7-F5049A20C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1699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B164C-48A7-CEE4-AC53-80EDDC725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4BAD2-581B-5CE8-B791-E7F10F2E0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B14DC-EC2E-239A-F80C-D8BDBC7F7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NEW DATA SERVICES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9F6A9-B39A-E544-7EA3-BC5CBC331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7739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589B2-693E-498C-0042-195B0B43F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E0018-C525-5DF8-2CFD-E176D3E3D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0F4B0-01D9-0310-6699-596272882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NEW DATA SERVICES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42FAE-523A-2827-279A-FCEBB1E513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8687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36DB-1337-80F0-7A6C-B7A40386A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E4C0E-AB4D-2F60-E135-37E9E07BD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AB5E2-05CD-457B-0866-A72523DFF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NEW DATA SERVICES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CC5AC-EBD4-EF53-00A8-FA8C11593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508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 by </a:t>
            </a:r>
            <a:r>
              <a:rPr lang="en-ID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Daria </a:t>
            </a:r>
            <a:r>
              <a:rPr lang="en-ID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Nepriakhina</a:t>
            </a:r>
            <a:r>
              <a:rPr lang="en-ID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n-ID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ID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Unsplash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2723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15.xml"/><Relationship Id="rId7" Type="http://schemas.openxmlformats.org/officeDocument/2006/relationships/oleObject" Target="../embeddings/oleObject8.bin"/><Relationship Id="rId2" Type="http://schemas.openxmlformats.org/officeDocument/2006/relationships/tags" Target="../tags/tag1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17.xml"/><Relationship Id="rId7" Type="http://schemas.openxmlformats.org/officeDocument/2006/relationships/oleObject" Target="../embeddings/oleObject8.bin"/><Relationship Id="rId2" Type="http://schemas.openxmlformats.org/officeDocument/2006/relationships/tags" Target="../tags/tag1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19.xml"/><Relationship Id="rId7" Type="http://schemas.openxmlformats.org/officeDocument/2006/relationships/oleObject" Target="../embeddings/oleObject8.bin"/><Relationship Id="rId2" Type="http://schemas.openxmlformats.org/officeDocument/2006/relationships/tags" Target="../tags/tag1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21.xml"/><Relationship Id="rId7" Type="http://schemas.openxmlformats.org/officeDocument/2006/relationships/oleObject" Target="../embeddings/oleObject8.bin"/><Relationship Id="rId2" Type="http://schemas.openxmlformats.org/officeDocument/2006/relationships/tags" Target="../tags/tag20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23.xml"/><Relationship Id="rId7" Type="http://schemas.openxmlformats.org/officeDocument/2006/relationships/oleObject" Target="../embeddings/oleObject8.bin"/><Relationship Id="rId2" Type="http://schemas.openxmlformats.org/officeDocument/2006/relationships/tags" Target="../tags/tag2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6D4F50A-5055-49DA-BB8F-2562F5049A4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01415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E967E64-14E7-49F0-BB62-7D7FC2D6111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6000" b="1" i="0" baseline="0" dirty="0">
              <a:latin typeface="Segoe UI" panose="020B0502040204020203" pitchFamily="34" charset="0"/>
              <a:ea typeface="+mj-ea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2FFAA-25BE-47A2-A60E-349BE354A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DAA34-980C-44A0-9965-D1AF72E12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14143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F35AA68-F172-4A78-B889-683911552A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31116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E72F155-0712-4AE2-8211-2F0289E5D928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1" i="0" baseline="0" dirty="0">
              <a:latin typeface="Segoe UI" panose="020B0502040204020203" pitchFamily="34" charset="0"/>
              <a:ea typeface="+mj-ea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43E93-BC38-4864-A0B9-1D065247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DEF6-B94F-4858-A2BA-F37F3A9A6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825624"/>
            <a:ext cx="11125200" cy="4422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1859F-6E04-4E0C-8AFF-FDA759EFDF71}"/>
              </a:ext>
            </a:extLst>
          </p:cNvPr>
          <p:cNvSpPr txBox="1"/>
          <p:nvPr userDrawn="1"/>
        </p:nvSpPr>
        <p:spPr>
          <a:xfrm>
            <a:off x="11425306" y="6484838"/>
            <a:ext cx="233294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1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A5208-0DCA-40B3-B82C-C58053861BFF}"/>
              </a:ext>
            </a:extLst>
          </p:cNvPr>
          <p:cNvSpPr txBox="1"/>
          <p:nvPr userDrawn="1"/>
        </p:nvSpPr>
        <p:spPr>
          <a:xfrm>
            <a:off x="533400" y="6507921"/>
            <a:ext cx="1312237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sz="8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Remote Onboarding Process</a:t>
            </a:r>
          </a:p>
        </p:txBody>
      </p:sp>
    </p:spTree>
    <p:extLst>
      <p:ext uri="{BB962C8B-B14F-4D97-AF65-F5344CB8AC3E}">
        <p14:creationId xmlns:p14="http://schemas.microsoft.com/office/powerpoint/2010/main" val="309377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3D05BBD-75A3-45A1-A625-FA5B13A1F83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655264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F088084-F7F4-4ED5-9E51-297D0641542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6000" b="1" i="0" baseline="0" dirty="0">
              <a:latin typeface="Segoe UI" panose="020B0502040204020203" pitchFamily="34" charset="0"/>
              <a:ea typeface="+mj-ea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63D7A-540E-425A-BEF5-69BB8D40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CBEA5-6625-4A00-B51E-8641A4AE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85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34F2D28-F53C-4EB4-B9CE-CDE75BBCF3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60230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6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DF8B75C5-941E-49C8-8273-E7412CD2EFD8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1" i="0" baseline="0" dirty="0">
              <a:latin typeface="Segoe UI" panose="020B0502040204020203" pitchFamily="34" charset="0"/>
              <a:ea typeface="+mj-ea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D00FA-CA57-4FCA-BFA6-C374C16C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0965A-09CA-4AA8-9C52-A5770F423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400" y="1825624"/>
            <a:ext cx="5486400" cy="4422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E6E0D-8C89-4C4D-B2ED-BC0A4867F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486400" cy="4422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3C6890-E0A1-4B08-A908-C883680C3F5A}"/>
              </a:ext>
            </a:extLst>
          </p:cNvPr>
          <p:cNvSpPr txBox="1"/>
          <p:nvPr userDrawn="1"/>
        </p:nvSpPr>
        <p:spPr>
          <a:xfrm>
            <a:off x="11425306" y="6484838"/>
            <a:ext cx="233294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1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953DA1-C1C1-4EAB-B7EA-BAD3ACB4E13F}"/>
              </a:ext>
            </a:extLst>
          </p:cNvPr>
          <p:cNvSpPr txBox="1"/>
          <p:nvPr userDrawn="1"/>
        </p:nvSpPr>
        <p:spPr>
          <a:xfrm>
            <a:off x="533400" y="6507921"/>
            <a:ext cx="1312237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sz="8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Remote Onboarding Process</a:t>
            </a:r>
          </a:p>
        </p:txBody>
      </p:sp>
    </p:spTree>
    <p:extLst>
      <p:ext uri="{BB962C8B-B14F-4D97-AF65-F5344CB8AC3E}">
        <p14:creationId xmlns:p14="http://schemas.microsoft.com/office/powerpoint/2010/main" val="3804770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C4B0497-6A5C-424D-AAA0-E56311C70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529382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0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9185E84-E0D0-4923-8F1C-101A943E863C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1" i="0" baseline="0" dirty="0">
              <a:latin typeface="Segoe UI" panose="020B0502040204020203" pitchFamily="34" charset="0"/>
              <a:ea typeface="+mj-ea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BB064-2B6B-4DB3-B5F2-73FB6436F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5"/>
            <a:ext cx="11128376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364BD-656F-49D4-978C-1EF0460D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681163"/>
            <a:ext cx="5464175" cy="83704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C1E74-B5DE-489B-8062-6F648F39A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3400" y="2505074"/>
            <a:ext cx="5464175" cy="37433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4AC3-B164-43D5-8EE3-2B3FACE1F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4864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59746C-CBAC-4D9D-AFCA-8ED31A888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486400" cy="37433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F168C-8EF0-4E5D-81FF-2CA7495E2898}"/>
              </a:ext>
            </a:extLst>
          </p:cNvPr>
          <p:cNvSpPr txBox="1"/>
          <p:nvPr userDrawn="1"/>
        </p:nvSpPr>
        <p:spPr>
          <a:xfrm>
            <a:off x="11425306" y="6484838"/>
            <a:ext cx="233294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1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C22806-EF4E-452C-BC54-30966B5F5F55}"/>
              </a:ext>
            </a:extLst>
          </p:cNvPr>
          <p:cNvSpPr txBox="1"/>
          <p:nvPr userDrawn="1"/>
        </p:nvSpPr>
        <p:spPr>
          <a:xfrm>
            <a:off x="533400" y="6507921"/>
            <a:ext cx="1312237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sz="8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Remote Onboarding Process</a:t>
            </a:r>
          </a:p>
        </p:txBody>
      </p:sp>
    </p:spTree>
    <p:extLst>
      <p:ext uri="{BB962C8B-B14F-4D97-AF65-F5344CB8AC3E}">
        <p14:creationId xmlns:p14="http://schemas.microsoft.com/office/powerpoint/2010/main" val="2543528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69F89DD-CA58-45CD-90F9-4278575A1B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248527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8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EA4E1EA-D881-409B-8C04-1257A8D74E54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1" i="0" baseline="0" dirty="0">
              <a:latin typeface="Segoe UI" panose="020B0502040204020203" pitchFamily="34" charset="0"/>
              <a:ea typeface="+mj-ea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9ADFF5-D2DF-4F4C-B84D-A9AF846D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239CBC-F8C8-4181-BD3C-8EF8AC61B31F}"/>
              </a:ext>
            </a:extLst>
          </p:cNvPr>
          <p:cNvSpPr txBox="1"/>
          <p:nvPr userDrawn="1"/>
        </p:nvSpPr>
        <p:spPr>
          <a:xfrm>
            <a:off x="11425306" y="6484838"/>
            <a:ext cx="233294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1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61AE4AB-450D-CF3F-95EF-BDBF50E31AC7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540720744"/>
              </p:ext>
            </p:extLst>
          </p:nvPr>
        </p:nvGraphicFramePr>
        <p:xfrm>
          <a:off x="250692" y="5197667"/>
          <a:ext cx="1629418" cy="1584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9" name="CorelDRAW" r:id="rId7" imgW="988381" imgH="987316" progId="CorelDraw.Graphic.16">
                  <p:embed/>
                </p:oleObj>
              </mc:Choice>
              <mc:Fallback>
                <p:oleObj name="CorelDRAW" r:id="rId7" imgW="988381" imgH="987316" progId="CorelDraw.Graphic.16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5EBC38F-920E-5319-0BF8-278AC4F29D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0692" y="5197667"/>
                        <a:ext cx="1629418" cy="1584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722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A54D6B-AD1F-4762-AC29-5F84F21768EB}"/>
              </a:ext>
            </a:extLst>
          </p:cNvPr>
          <p:cNvSpPr txBox="1"/>
          <p:nvPr userDrawn="1"/>
        </p:nvSpPr>
        <p:spPr>
          <a:xfrm>
            <a:off x="11425306" y="6484838"/>
            <a:ext cx="233294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1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B762959-527B-0281-C540-4B6AE5FE62B9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540720744"/>
              </p:ext>
            </p:extLst>
          </p:nvPr>
        </p:nvGraphicFramePr>
        <p:xfrm>
          <a:off x="250692" y="5197667"/>
          <a:ext cx="1629418" cy="1584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8" name="CorelDRAW" r:id="rId3" imgW="988381" imgH="987316" progId="CorelDraw.Graphic.16">
                  <p:embed/>
                </p:oleObj>
              </mc:Choice>
              <mc:Fallback>
                <p:oleObj name="CorelDRAW" r:id="rId3" imgW="988381" imgH="987316" progId="CorelDraw.Graphic.16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5EBC38F-920E-5319-0BF8-278AC4F29D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0692" y="5197667"/>
                        <a:ext cx="1629418" cy="1584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518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94885A9-2603-E2B6-28B3-258359A124F3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540720744"/>
              </p:ext>
            </p:extLst>
          </p:nvPr>
        </p:nvGraphicFramePr>
        <p:xfrm>
          <a:off x="250692" y="5197667"/>
          <a:ext cx="1629418" cy="1584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2" name="CorelDRAW" r:id="rId3" imgW="988381" imgH="987316" progId="CorelDraw.Graphic.16">
                  <p:embed/>
                </p:oleObj>
              </mc:Choice>
              <mc:Fallback>
                <p:oleObj name="CorelDRAW" r:id="rId3" imgW="988381" imgH="987316" progId="CorelDraw.Graphic.16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5EBC38F-920E-5319-0BF8-278AC4F29D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0692" y="5197667"/>
                        <a:ext cx="1629418" cy="1584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53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7CBAD09-A2C3-40B0-A715-021BD861983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167553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0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72723C81-9794-4AE4-8C4E-C87F3BBF3CA4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1" i="0" baseline="0" dirty="0">
              <a:latin typeface="Segoe UI" panose="020B0502040204020203" pitchFamily="34" charset="0"/>
              <a:ea typeface="+mj-ea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33DCC-E58D-4E90-BD32-93612EB10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7CF97-5037-48C8-8243-48B5F7870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53ED2-55B1-4F90-9569-25377B50E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0FDC3B-FF54-45FD-8337-F815F6726BBD}"/>
              </a:ext>
            </a:extLst>
          </p:cNvPr>
          <p:cNvSpPr txBox="1"/>
          <p:nvPr userDrawn="1"/>
        </p:nvSpPr>
        <p:spPr>
          <a:xfrm>
            <a:off x="11425306" y="6484838"/>
            <a:ext cx="233294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1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7D121FD-FE44-DBEC-05A5-D404D5064368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540720744"/>
              </p:ext>
            </p:extLst>
          </p:nvPr>
        </p:nvGraphicFramePr>
        <p:xfrm>
          <a:off x="250692" y="5197667"/>
          <a:ext cx="1629418" cy="1584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1" name="CorelDRAW" r:id="rId7" imgW="988381" imgH="987316" progId="CorelDraw.Graphic.16">
                  <p:embed/>
                </p:oleObj>
              </mc:Choice>
              <mc:Fallback>
                <p:oleObj name="CorelDRAW" r:id="rId7" imgW="988381" imgH="987316" progId="CorelDraw.Graphic.16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5EBC38F-920E-5319-0BF8-278AC4F29D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0692" y="5197667"/>
                        <a:ext cx="1629418" cy="1584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5451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8D9FE51-1EF0-4EE1-BFA5-1214860036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435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4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98A80063-B2A1-44A4-9477-86F03686A884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1" i="0" baseline="0" dirty="0">
              <a:latin typeface="Segoe UI" panose="020B0502040204020203" pitchFamily="34" charset="0"/>
              <a:ea typeface="+mj-ea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03295E-5F2E-469B-B4C3-767643F2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84A6C5-DA12-455A-81DD-2B5C41D0E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59A1D-8CC0-43CE-9EB7-F5DE71D0A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427E83-516A-4461-8E80-E9AA63529918}"/>
              </a:ext>
            </a:extLst>
          </p:cNvPr>
          <p:cNvSpPr txBox="1"/>
          <p:nvPr userDrawn="1"/>
        </p:nvSpPr>
        <p:spPr>
          <a:xfrm>
            <a:off x="11425306" y="6484838"/>
            <a:ext cx="233294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1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A06A06F-6A45-EB84-1609-559E0EF120DD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540720744"/>
              </p:ext>
            </p:extLst>
          </p:nvPr>
        </p:nvGraphicFramePr>
        <p:xfrm>
          <a:off x="250692" y="5197667"/>
          <a:ext cx="1629418" cy="1584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5" name="CorelDRAW" r:id="rId7" imgW="988381" imgH="987316" progId="CorelDraw.Graphic.16">
                  <p:embed/>
                </p:oleObj>
              </mc:Choice>
              <mc:Fallback>
                <p:oleObj name="CorelDRAW" r:id="rId7" imgW="988381" imgH="987316" progId="CorelDraw.Graphic.16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5EBC38F-920E-5319-0BF8-278AC4F29D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0692" y="5197667"/>
                        <a:ext cx="1629418" cy="1584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5104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01AAA21-F482-412E-A625-049E0606D6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604717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8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F1AF5EF-56D3-45E3-AFBB-0E2A5080DB34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1" i="0" baseline="0" dirty="0">
              <a:latin typeface="Segoe UI" panose="020B0502040204020203" pitchFamily="34" charset="0"/>
              <a:ea typeface="+mj-ea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C3B649-33B5-49E0-AF95-5C2F74360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3234-B853-4DD4-ACD3-949D5F284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3400" y="1825624"/>
            <a:ext cx="11125200" cy="44227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08A02-98E2-4FE5-AAB5-1400BBFC8A6F}"/>
              </a:ext>
            </a:extLst>
          </p:cNvPr>
          <p:cNvSpPr txBox="1"/>
          <p:nvPr userDrawn="1"/>
        </p:nvSpPr>
        <p:spPr>
          <a:xfrm>
            <a:off x="11425306" y="6484838"/>
            <a:ext cx="233294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1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CF38A5D-0CED-5589-7EF5-8CB52D2B61F3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540720744"/>
              </p:ext>
            </p:extLst>
          </p:nvPr>
        </p:nvGraphicFramePr>
        <p:xfrm>
          <a:off x="250692" y="5197667"/>
          <a:ext cx="1629418" cy="1584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9" name="CorelDRAW" r:id="rId7" imgW="988381" imgH="987316" progId="CorelDraw.Graphic.16">
                  <p:embed/>
                </p:oleObj>
              </mc:Choice>
              <mc:Fallback>
                <p:oleObj name="CorelDRAW" r:id="rId7" imgW="988381" imgH="987316" progId="CorelDraw.Graphic.16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5EBC38F-920E-5319-0BF8-278AC4F29D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0692" y="5197667"/>
                        <a:ext cx="1629418" cy="1584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36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41B1A9E-F8FD-4983-8B3D-23700D9701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892271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2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71763D3-5CD9-4A81-8364-B592C5D0ACE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1" i="0" baseline="0" dirty="0">
              <a:latin typeface="Segoe UI" panose="020B0502040204020203" pitchFamily="34" charset="0"/>
              <a:ea typeface="+mj-ea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4D309-A159-49EF-AA30-9AD12AF5D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4"/>
            <a:ext cx="2933700" cy="58832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69772-6562-4B91-92CF-F6615BFA1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3400" y="365124"/>
            <a:ext cx="8039100" cy="5883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F74A31-AA1D-418D-B416-1F4772B5A2BF}"/>
              </a:ext>
            </a:extLst>
          </p:cNvPr>
          <p:cNvSpPr txBox="1"/>
          <p:nvPr userDrawn="1"/>
        </p:nvSpPr>
        <p:spPr>
          <a:xfrm>
            <a:off x="11425306" y="6484838"/>
            <a:ext cx="233294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1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5EBC38F-920E-5319-0BF8-278AC4F29DCF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44112699"/>
              </p:ext>
            </p:extLst>
          </p:nvPr>
        </p:nvGraphicFramePr>
        <p:xfrm>
          <a:off x="250692" y="5197667"/>
          <a:ext cx="1629418" cy="1584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3" name="CorelDRAW" r:id="rId7" imgW="988381" imgH="987316" progId="CorelDraw.Graphic.16">
                  <p:embed/>
                </p:oleObj>
              </mc:Choice>
              <mc:Fallback>
                <p:oleObj name="CorelDRAW" r:id="rId7" imgW="988381" imgH="987316" progId="CorelDraw.Graphic.16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3D1128B8-8EE7-7879-7B6F-07BBEF08DF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0692" y="5197667"/>
                        <a:ext cx="1629418" cy="1584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7590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90BF43A-ADF4-474C-A6C7-D13F30B47E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03300"/>
            <a:ext cx="3952764" cy="5537200"/>
          </a:xfrm>
          <a:custGeom>
            <a:avLst/>
            <a:gdLst>
              <a:gd name="connsiteX0" fmla="*/ 1184164 w 3952764"/>
              <a:gd name="connsiteY0" fmla="*/ 0 h 5537200"/>
              <a:gd name="connsiteX1" fmla="*/ 3952764 w 3952764"/>
              <a:gd name="connsiteY1" fmla="*/ 2768600 h 5537200"/>
              <a:gd name="connsiteX2" fmla="*/ 1184164 w 3952764"/>
              <a:gd name="connsiteY2" fmla="*/ 5537200 h 5537200"/>
              <a:gd name="connsiteX3" fmla="*/ 106500 w 3952764"/>
              <a:gd name="connsiteY3" fmla="*/ 5319630 h 5537200"/>
              <a:gd name="connsiteX4" fmla="*/ 0 w 3952764"/>
              <a:gd name="connsiteY4" fmla="*/ 5268326 h 5537200"/>
              <a:gd name="connsiteX5" fmla="*/ 0 w 3952764"/>
              <a:gd name="connsiteY5" fmla="*/ 268874 h 5537200"/>
              <a:gd name="connsiteX6" fmla="*/ 106500 w 3952764"/>
              <a:gd name="connsiteY6" fmla="*/ 217570 h 5537200"/>
              <a:gd name="connsiteX7" fmla="*/ 1184164 w 3952764"/>
              <a:gd name="connsiteY7" fmla="*/ 0 h 553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2764" h="5537200">
                <a:moveTo>
                  <a:pt x="1184164" y="0"/>
                </a:moveTo>
                <a:cubicBezTo>
                  <a:pt x="2713220" y="0"/>
                  <a:pt x="3952764" y="1239544"/>
                  <a:pt x="3952764" y="2768600"/>
                </a:cubicBezTo>
                <a:cubicBezTo>
                  <a:pt x="3952764" y="4297656"/>
                  <a:pt x="2713220" y="5537200"/>
                  <a:pt x="1184164" y="5537200"/>
                </a:cubicBezTo>
                <a:cubicBezTo>
                  <a:pt x="801900" y="5537200"/>
                  <a:pt x="437731" y="5459729"/>
                  <a:pt x="106500" y="5319630"/>
                </a:cubicBezTo>
                <a:lnTo>
                  <a:pt x="0" y="5268326"/>
                </a:lnTo>
                <a:lnTo>
                  <a:pt x="0" y="268874"/>
                </a:lnTo>
                <a:lnTo>
                  <a:pt x="106500" y="217570"/>
                </a:lnTo>
                <a:cubicBezTo>
                  <a:pt x="437731" y="77472"/>
                  <a:pt x="801900" y="0"/>
                  <a:pt x="118416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92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vmlDrawing" Target="../drawings/vmlDrawing1.v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4B6927B9-FE2F-6547-888C-BB7E7A88DD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28474363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" name="think-cell Slide" r:id="rId18" imgW="7772400" imgH="10058400" progId="TCLayout.ActiveDocument.1">
                  <p:embed/>
                </p:oleObj>
              </mc:Choice>
              <mc:Fallback>
                <p:oleObj name="think-cell Slide" r:id="rId18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9B02A9F1-D26D-C949-A8F3-A16AA4A7248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1" i="0" baseline="0" dirty="0">
              <a:latin typeface="Segoe UI" panose="020B0502040204020203" pitchFamily="34" charset="0"/>
              <a:ea typeface="+mj-ea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E9C95-668D-4C97-99D8-074E1701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06400"/>
            <a:ext cx="11125200" cy="88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9BE55-B1B7-4BDF-8E9F-D05E93906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524000"/>
            <a:ext cx="11125200" cy="465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36658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8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36" userDrawn="1">
          <p15:clr>
            <a:srgbClr val="F26B43"/>
          </p15:clr>
        </p15:guide>
        <p15:guide id="4" pos="7344" userDrawn="1">
          <p15:clr>
            <a:srgbClr val="F26B43"/>
          </p15:clr>
        </p15:guide>
        <p15:guide id="5" orient="horz" pos="3936" userDrawn="1">
          <p15:clr>
            <a:srgbClr val="F26B43"/>
          </p15:clr>
        </p15:guide>
        <p15:guide id="6" orient="horz" pos="960" userDrawn="1">
          <p15:clr>
            <a:srgbClr val="F26B43"/>
          </p15:clr>
        </p15:guide>
        <p15:guide id="7" orient="horz" pos="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4.jpg"/><Relationship Id="rId2" Type="http://schemas.openxmlformats.org/officeDocument/2006/relationships/tags" Target="../tags/tag2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3.bin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5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4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6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5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5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8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5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9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5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0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5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1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5.bin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5.bin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8.bin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9EA09A9-7BEC-49BA-B0B8-FE8D5AE3F2A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952817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86" name="think-cell Slide" r:id="rId5" imgW="351" imgH="351" progId="TCLayout.ActiveDocument.1">
                  <p:embed/>
                </p:oleObj>
              </mc:Choice>
              <mc:Fallback>
                <p:oleObj name="think-cell Slide" r:id="rId5" imgW="351" imgH="35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A computer sitting on top of a table&#10;&#10;Description automatically generated">
            <a:extLst>
              <a:ext uri="{FF2B5EF4-FFF2-40B4-BE49-F238E27FC236}">
                <a16:creationId xmlns:a16="http://schemas.microsoft.com/office/drawing/2014/main" id="{EC6A7D03-6529-4F51-BC9A-EA43237FD02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65" b="502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7AD56F0-C2B9-4D73-BC11-7A7DAF9685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8703076 w 12192000"/>
              <a:gd name="connsiteY1" fmla="*/ 0 h 6858000"/>
              <a:gd name="connsiteX2" fmla="*/ 7162800 w 12192000"/>
              <a:gd name="connsiteY2" fmla="*/ 4673594 h 6858000"/>
              <a:gd name="connsiteX3" fmla="*/ 10969224 w 12192000"/>
              <a:gd name="connsiteY3" fmla="*/ 4673594 h 6858000"/>
              <a:gd name="connsiteX4" fmla="*/ 12192000 w 12192000"/>
              <a:gd name="connsiteY4" fmla="*/ 963377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8703076" y="0"/>
                </a:lnTo>
                <a:lnTo>
                  <a:pt x="7162800" y="4673594"/>
                </a:lnTo>
                <a:lnTo>
                  <a:pt x="10969224" y="4673594"/>
                </a:lnTo>
                <a:lnTo>
                  <a:pt x="12192000" y="963377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BAEF156-3BBB-440D-8792-5DF1D2FDD6F4}"/>
              </a:ext>
            </a:extLst>
          </p:cNvPr>
          <p:cNvSpPr txBox="1">
            <a:spLocks/>
          </p:cNvSpPr>
          <p:nvPr/>
        </p:nvSpPr>
        <p:spPr>
          <a:xfrm>
            <a:off x="452469" y="3343999"/>
            <a:ext cx="6687820" cy="132959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Karunadu Technologies</a:t>
            </a:r>
          </a:p>
          <a:p>
            <a:pPr algn="ctr"/>
            <a:r>
              <a:rPr lang="en-US" sz="4800" dirty="0">
                <a:solidFill>
                  <a:srgbClr val="F4AD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Private Limited</a:t>
            </a:r>
            <a:endParaRPr lang="en-US" sz="4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9A815E-CFDE-4030-99B8-973B38B57EA1}"/>
              </a:ext>
            </a:extLst>
          </p:cNvPr>
          <p:cNvCxnSpPr>
            <a:cxnSpLocks/>
          </p:cNvCxnSpPr>
          <p:nvPr/>
        </p:nvCxnSpPr>
        <p:spPr>
          <a:xfrm>
            <a:off x="474980" y="4673600"/>
            <a:ext cx="61328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6F0619C-34C7-43E3-BCB7-72E336A4FC4B}"/>
              </a:ext>
            </a:extLst>
          </p:cNvPr>
          <p:cNvSpPr/>
          <p:nvPr/>
        </p:nvSpPr>
        <p:spPr>
          <a:xfrm>
            <a:off x="7162800" y="0"/>
            <a:ext cx="5029200" cy="4673594"/>
          </a:xfrm>
          <a:custGeom>
            <a:avLst/>
            <a:gdLst>
              <a:gd name="connsiteX0" fmla="*/ 1540276 w 5029200"/>
              <a:gd name="connsiteY0" fmla="*/ 0 h 4673594"/>
              <a:gd name="connsiteX1" fmla="*/ 5029200 w 5029200"/>
              <a:gd name="connsiteY1" fmla="*/ 0 h 4673594"/>
              <a:gd name="connsiteX2" fmla="*/ 5029200 w 5029200"/>
              <a:gd name="connsiteY2" fmla="*/ 963377 h 4673594"/>
              <a:gd name="connsiteX3" fmla="*/ 3806424 w 5029200"/>
              <a:gd name="connsiteY3" fmla="*/ 4673594 h 4673594"/>
              <a:gd name="connsiteX4" fmla="*/ 0 w 5029200"/>
              <a:gd name="connsiteY4" fmla="*/ 4673594 h 4673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9200" h="4673594">
                <a:moveTo>
                  <a:pt x="1540276" y="0"/>
                </a:moveTo>
                <a:lnTo>
                  <a:pt x="5029200" y="0"/>
                </a:lnTo>
                <a:lnTo>
                  <a:pt x="5029200" y="963377"/>
                </a:lnTo>
                <a:lnTo>
                  <a:pt x="3806424" y="4673594"/>
                </a:lnTo>
                <a:lnTo>
                  <a:pt x="0" y="4673594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4">
                  <a:alpha val="5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0AB55B9-8A18-4622-8E1B-ABA6EABA8DC2}"/>
              </a:ext>
            </a:extLst>
          </p:cNvPr>
          <p:cNvSpPr/>
          <p:nvPr/>
        </p:nvSpPr>
        <p:spPr>
          <a:xfrm>
            <a:off x="10241790" y="4673594"/>
            <a:ext cx="1950210" cy="2184406"/>
          </a:xfrm>
          <a:custGeom>
            <a:avLst/>
            <a:gdLst>
              <a:gd name="connsiteX0" fmla="*/ 719915 w 1950210"/>
              <a:gd name="connsiteY0" fmla="*/ 0 h 2184406"/>
              <a:gd name="connsiteX1" fmla="*/ 1950210 w 1950210"/>
              <a:gd name="connsiteY1" fmla="*/ 0 h 2184406"/>
              <a:gd name="connsiteX2" fmla="*/ 1950210 w 1950210"/>
              <a:gd name="connsiteY2" fmla="*/ 2184406 h 2184406"/>
              <a:gd name="connsiteX3" fmla="*/ 0 w 1950210"/>
              <a:gd name="connsiteY3" fmla="*/ 2184406 h 2184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0210" h="2184406">
                <a:moveTo>
                  <a:pt x="719915" y="0"/>
                </a:moveTo>
                <a:lnTo>
                  <a:pt x="1950210" y="0"/>
                </a:lnTo>
                <a:lnTo>
                  <a:pt x="1950210" y="2184406"/>
                </a:lnTo>
                <a:lnTo>
                  <a:pt x="0" y="2184406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35" name="Freeform 60">
            <a:extLst>
              <a:ext uri="{FF2B5EF4-FFF2-40B4-BE49-F238E27FC236}">
                <a16:creationId xmlns:a16="http://schemas.microsoft.com/office/drawing/2014/main" id="{FE4DAEEA-77DC-4BE0-9B31-DC809821A25E}"/>
              </a:ext>
            </a:extLst>
          </p:cNvPr>
          <p:cNvSpPr>
            <a:spLocks/>
          </p:cNvSpPr>
          <p:nvPr/>
        </p:nvSpPr>
        <p:spPr bwMode="auto">
          <a:xfrm>
            <a:off x="8911065" y="2547070"/>
            <a:ext cx="1140137" cy="798622"/>
          </a:xfrm>
          <a:custGeom>
            <a:avLst/>
            <a:gdLst>
              <a:gd name="T0" fmla="*/ 32 w 92"/>
              <a:gd name="T1" fmla="*/ 64 h 64"/>
              <a:gd name="T2" fmla="*/ 6 w 92"/>
              <a:gd name="T3" fmla="*/ 64 h 64"/>
              <a:gd name="T4" fmla="*/ 0 w 92"/>
              <a:gd name="T5" fmla="*/ 58 h 64"/>
              <a:gd name="T6" fmla="*/ 0 w 92"/>
              <a:gd name="T7" fmla="*/ 6 h 64"/>
              <a:gd name="T8" fmla="*/ 6 w 92"/>
              <a:gd name="T9" fmla="*/ 0 h 64"/>
              <a:gd name="T10" fmla="*/ 86 w 92"/>
              <a:gd name="T11" fmla="*/ 0 h 64"/>
              <a:gd name="T12" fmla="*/ 92 w 92"/>
              <a:gd name="T13" fmla="*/ 6 h 64"/>
              <a:gd name="T14" fmla="*/ 92 w 92"/>
              <a:gd name="T15" fmla="*/ 58 h 64"/>
              <a:gd name="T16" fmla="*/ 86 w 92"/>
              <a:gd name="T17" fmla="*/ 64 h 64"/>
              <a:gd name="T18" fmla="*/ 80 w 92"/>
              <a:gd name="T19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2" h="64">
                <a:moveTo>
                  <a:pt x="32" y="64"/>
                </a:moveTo>
                <a:cubicBezTo>
                  <a:pt x="6" y="64"/>
                  <a:pt x="6" y="64"/>
                  <a:pt x="6" y="64"/>
                </a:cubicBezTo>
                <a:cubicBezTo>
                  <a:pt x="3" y="64"/>
                  <a:pt x="0" y="61"/>
                  <a:pt x="0" y="58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86" y="0"/>
                  <a:pt x="86" y="0"/>
                  <a:pt x="86" y="0"/>
                </a:cubicBezTo>
                <a:cubicBezTo>
                  <a:pt x="89" y="0"/>
                  <a:pt x="92" y="3"/>
                  <a:pt x="92" y="6"/>
                </a:cubicBezTo>
                <a:cubicBezTo>
                  <a:pt x="92" y="58"/>
                  <a:pt x="92" y="58"/>
                  <a:pt x="92" y="58"/>
                </a:cubicBezTo>
                <a:cubicBezTo>
                  <a:pt x="92" y="61"/>
                  <a:pt x="89" y="64"/>
                  <a:pt x="86" y="64"/>
                </a:cubicBezTo>
                <a:cubicBezTo>
                  <a:pt x="80" y="64"/>
                  <a:pt x="80" y="64"/>
                  <a:pt x="80" y="64"/>
                </a:cubicBezTo>
              </a:path>
            </a:pathLst>
          </a:custGeom>
          <a:noFill/>
          <a:ln w="31750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6" name="Freeform 61">
            <a:extLst>
              <a:ext uri="{FF2B5EF4-FFF2-40B4-BE49-F238E27FC236}">
                <a16:creationId xmlns:a16="http://schemas.microsoft.com/office/drawing/2014/main" id="{22AD45E1-28E0-4F8E-839C-8BBF2CB12D5D}"/>
              </a:ext>
            </a:extLst>
          </p:cNvPr>
          <p:cNvSpPr>
            <a:spLocks/>
          </p:cNvSpPr>
          <p:nvPr/>
        </p:nvSpPr>
        <p:spPr bwMode="auto">
          <a:xfrm>
            <a:off x="9010891" y="2646899"/>
            <a:ext cx="945734" cy="598967"/>
          </a:xfrm>
          <a:custGeom>
            <a:avLst/>
            <a:gdLst>
              <a:gd name="T0" fmla="*/ 56 w 180"/>
              <a:gd name="T1" fmla="*/ 114 h 114"/>
              <a:gd name="T2" fmla="*/ 0 w 180"/>
              <a:gd name="T3" fmla="*/ 114 h 114"/>
              <a:gd name="T4" fmla="*/ 0 w 180"/>
              <a:gd name="T5" fmla="*/ 0 h 114"/>
              <a:gd name="T6" fmla="*/ 180 w 180"/>
              <a:gd name="T7" fmla="*/ 0 h 114"/>
              <a:gd name="T8" fmla="*/ 180 w 180"/>
              <a:gd name="T9" fmla="*/ 114 h 114"/>
              <a:gd name="T10" fmla="*/ 170 w 180"/>
              <a:gd name="T11" fmla="*/ 114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0" h="114">
                <a:moveTo>
                  <a:pt x="56" y="114"/>
                </a:moveTo>
                <a:lnTo>
                  <a:pt x="0" y="114"/>
                </a:lnTo>
                <a:lnTo>
                  <a:pt x="0" y="0"/>
                </a:lnTo>
                <a:lnTo>
                  <a:pt x="180" y="0"/>
                </a:lnTo>
                <a:lnTo>
                  <a:pt x="180" y="114"/>
                </a:lnTo>
                <a:lnTo>
                  <a:pt x="170" y="114"/>
                </a:lnTo>
              </a:path>
            </a:pathLst>
          </a:custGeom>
          <a:noFill/>
          <a:ln w="31750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7" name="Rectangle 62">
            <a:extLst>
              <a:ext uri="{FF2B5EF4-FFF2-40B4-BE49-F238E27FC236}">
                <a16:creationId xmlns:a16="http://schemas.microsoft.com/office/drawing/2014/main" id="{6C933423-B236-4398-971E-AF467AC6E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7489" y="3146037"/>
            <a:ext cx="299484" cy="504393"/>
          </a:xfrm>
          <a:prstGeom prst="rect">
            <a:avLst/>
          </a:prstGeom>
          <a:noFill/>
          <a:ln w="31750" cap="flat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8" name="Oval 63">
            <a:extLst>
              <a:ext uri="{FF2B5EF4-FFF2-40B4-BE49-F238E27FC236}">
                <a16:creationId xmlns:a16="http://schemas.microsoft.com/office/drawing/2014/main" id="{7E5AEC75-CD43-43D4-B290-14765C8B7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3674" y="3224850"/>
            <a:ext cx="52541" cy="472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9" name="Oval 64">
            <a:extLst>
              <a:ext uri="{FF2B5EF4-FFF2-40B4-BE49-F238E27FC236}">
                <a16:creationId xmlns:a16="http://schemas.microsoft.com/office/drawing/2014/main" id="{96C1CC85-A55C-4C86-92D2-5528302CA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3500" y="3224850"/>
            <a:ext cx="47288" cy="472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0" name="Oval 65">
            <a:extLst>
              <a:ext uri="{FF2B5EF4-FFF2-40B4-BE49-F238E27FC236}">
                <a16:creationId xmlns:a16="http://schemas.microsoft.com/office/drawing/2014/main" id="{99C2E54F-0870-4337-987C-7B7BF5E3F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3674" y="3324676"/>
            <a:ext cx="52541" cy="472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1" name="Oval 66">
            <a:extLst>
              <a:ext uri="{FF2B5EF4-FFF2-40B4-BE49-F238E27FC236}">
                <a16:creationId xmlns:a16="http://schemas.microsoft.com/office/drawing/2014/main" id="{AA83E851-7E1D-4028-87E3-A31E571CE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3500" y="3324676"/>
            <a:ext cx="47288" cy="472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2" name="Oval 67">
            <a:extLst>
              <a:ext uri="{FF2B5EF4-FFF2-40B4-BE49-F238E27FC236}">
                <a16:creationId xmlns:a16="http://schemas.microsoft.com/office/drawing/2014/main" id="{ABEB90FC-1D8F-4A6A-A923-CFF1ADE30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3674" y="3424506"/>
            <a:ext cx="52541" cy="472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3" name="Oval 68">
            <a:extLst>
              <a:ext uri="{FF2B5EF4-FFF2-40B4-BE49-F238E27FC236}">
                <a16:creationId xmlns:a16="http://schemas.microsoft.com/office/drawing/2014/main" id="{DAB1CA1C-D107-46C9-8DDE-30B086025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3500" y="3424506"/>
            <a:ext cx="47288" cy="472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4" name="Freeform 69">
            <a:extLst>
              <a:ext uri="{FF2B5EF4-FFF2-40B4-BE49-F238E27FC236}">
                <a16:creationId xmlns:a16="http://schemas.microsoft.com/office/drawing/2014/main" id="{A87D20B9-8E07-4FC1-81AF-80A50B33431D}"/>
              </a:ext>
            </a:extLst>
          </p:cNvPr>
          <p:cNvSpPr>
            <a:spLocks/>
          </p:cNvSpPr>
          <p:nvPr/>
        </p:nvSpPr>
        <p:spPr bwMode="auto">
          <a:xfrm>
            <a:off x="9446981" y="2809775"/>
            <a:ext cx="331009" cy="63049"/>
          </a:xfrm>
          <a:custGeom>
            <a:avLst/>
            <a:gdLst>
              <a:gd name="T0" fmla="*/ 27 w 27"/>
              <a:gd name="T1" fmla="*/ 5 h 5"/>
              <a:gd name="T2" fmla="*/ 0 w 27"/>
              <a:gd name="T3" fmla="*/ 4 h 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7" h="5">
                <a:moveTo>
                  <a:pt x="27" y="5"/>
                </a:moveTo>
                <a:cubicBezTo>
                  <a:pt x="19" y="0"/>
                  <a:pt x="9" y="0"/>
                  <a:pt x="0" y="4"/>
                </a:cubicBezTo>
              </a:path>
            </a:pathLst>
          </a:custGeom>
          <a:noFill/>
          <a:ln w="31750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5" name="Freeform 70">
            <a:extLst>
              <a:ext uri="{FF2B5EF4-FFF2-40B4-BE49-F238E27FC236}">
                <a16:creationId xmlns:a16="http://schemas.microsoft.com/office/drawing/2014/main" id="{2E937BB2-66F9-4DA1-ADCC-F52B477ABD2C}"/>
              </a:ext>
            </a:extLst>
          </p:cNvPr>
          <p:cNvSpPr>
            <a:spLocks/>
          </p:cNvSpPr>
          <p:nvPr/>
        </p:nvSpPr>
        <p:spPr bwMode="auto">
          <a:xfrm>
            <a:off x="9494266" y="2909604"/>
            <a:ext cx="225927" cy="47289"/>
          </a:xfrm>
          <a:custGeom>
            <a:avLst/>
            <a:gdLst>
              <a:gd name="T0" fmla="*/ 18 w 18"/>
              <a:gd name="T1" fmla="*/ 4 h 4"/>
              <a:gd name="T2" fmla="*/ 0 w 18"/>
              <a:gd name="T3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" h="4">
                <a:moveTo>
                  <a:pt x="18" y="4"/>
                </a:moveTo>
                <a:cubicBezTo>
                  <a:pt x="13" y="0"/>
                  <a:pt x="6" y="0"/>
                  <a:pt x="0" y="3"/>
                </a:cubicBezTo>
              </a:path>
            </a:pathLst>
          </a:custGeom>
          <a:noFill/>
          <a:ln w="31750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6" name="Freeform 71">
            <a:extLst>
              <a:ext uri="{FF2B5EF4-FFF2-40B4-BE49-F238E27FC236}">
                <a16:creationId xmlns:a16="http://schemas.microsoft.com/office/drawing/2014/main" id="{4B3A3BFE-67E4-4171-81FC-D68BE50B123A}"/>
              </a:ext>
            </a:extLst>
          </p:cNvPr>
          <p:cNvSpPr>
            <a:spLocks/>
          </p:cNvSpPr>
          <p:nvPr/>
        </p:nvSpPr>
        <p:spPr bwMode="auto">
          <a:xfrm>
            <a:off x="9541555" y="3019939"/>
            <a:ext cx="126098" cy="15764"/>
          </a:xfrm>
          <a:custGeom>
            <a:avLst/>
            <a:gdLst>
              <a:gd name="T0" fmla="*/ 10 w 10"/>
              <a:gd name="T1" fmla="*/ 1 h 1"/>
              <a:gd name="T2" fmla="*/ 0 w 10"/>
              <a:gd name="T3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" h="1">
                <a:moveTo>
                  <a:pt x="10" y="1"/>
                </a:moveTo>
                <a:cubicBezTo>
                  <a:pt x="7" y="0"/>
                  <a:pt x="3" y="0"/>
                  <a:pt x="0" y="1"/>
                </a:cubicBezTo>
              </a:path>
            </a:pathLst>
          </a:custGeom>
          <a:noFill/>
          <a:ln w="31750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42FF64DE-3DC1-618C-1DC2-4CABE95A9986}"/>
              </a:ext>
            </a:extLst>
          </p:cNvPr>
          <p:cNvSpPr txBox="1">
            <a:spLocks/>
          </p:cNvSpPr>
          <p:nvPr/>
        </p:nvSpPr>
        <p:spPr>
          <a:xfrm>
            <a:off x="558800" y="4871183"/>
            <a:ext cx="6581489" cy="5539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Internship Project</a:t>
            </a:r>
            <a:endParaRPr lang="en-US" sz="8000" dirty="0">
              <a:solidFill>
                <a:srgbClr val="F4AD6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D1128B8-8EE7-7879-7B6F-07BBEF08DF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80823"/>
              </p:ext>
            </p:extLst>
          </p:nvPr>
        </p:nvGraphicFramePr>
        <p:xfrm>
          <a:off x="8612372" y="2190307"/>
          <a:ext cx="1629418" cy="1584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87" name="CorelDRAW" r:id="rId8" imgW="988381" imgH="987316" progId="CorelDraw.Graphic.16">
                  <p:embed/>
                </p:oleObj>
              </mc:Choice>
              <mc:Fallback>
                <p:oleObj name="CorelDRAW" r:id="rId8" imgW="988381" imgH="987316" progId="CorelDraw.Graphic.1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612372" y="2190307"/>
                        <a:ext cx="1629418" cy="1584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882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84D1001-8A0C-407F-9765-8A9A2EEE89E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098498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6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5D9F82E-C7CA-930E-58AD-AB596089CFE6}"/>
              </a:ext>
            </a:extLst>
          </p:cNvPr>
          <p:cNvSpPr txBox="1"/>
          <p:nvPr/>
        </p:nvSpPr>
        <p:spPr>
          <a:xfrm>
            <a:off x="157480" y="2075827"/>
            <a:ext cx="11318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99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Plant Communication Classification using Machine Learning &amp; Django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C974A3-801E-F203-A1A7-4FA890B485D3}"/>
              </a:ext>
            </a:extLst>
          </p:cNvPr>
          <p:cNvSpPr txBox="1"/>
          <p:nvPr/>
        </p:nvSpPr>
        <p:spPr>
          <a:xfrm>
            <a:off x="523966" y="381284"/>
            <a:ext cx="1131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99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1291312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F0C9F023-9C99-4D04-82A5-9EC0F92B39B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92317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0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C226C02-2612-8D1A-2DCF-CDEFECC702A2}"/>
              </a:ext>
            </a:extLst>
          </p:cNvPr>
          <p:cNvSpPr/>
          <p:nvPr/>
        </p:nvSpPr>
        <p:spPr>
          <a:xfrm>
            <a:off x="35560" y="53405"/>
            <a:ext cx="12115800" cy="8534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rgbClr val="403E3E"/>
                </a:solidFill>
                <a:latin typeface="+mj-lt"/>
              </a:rPr>
              <a:t>Introduction</a:t>
            </a:r>
            <a:endParaRPr lang="en-US" sz="3600" dirty="0">
              <a:solidFill>
                <a:srgbClr val="403E3E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BCB249-4A4D-6518-9EDD-1EDDA3275A8F}"/>
              </a:ext>
            </a:extLst>
          </p:cNvPr>
          <p:cNvSpPr txBox="1"/>
          <p:nvPr/>
        </p:nvSpPr>
        <p:spPr>
          <a:xfrm>
            <a:off x="0" y="1383214"/>
            <a:ext cx="1191296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Plants interact with their environment through various biological signals such as vibrations, electrical root activity, light emission, and chemical responses. This dataset explores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bio-inspired concept of plant communication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these measurable signals are interpreted as different “message types.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assignment, students will develop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web application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message a plant is transmitting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its biological and environmental signals.</a:t>
            </a:r>
          </a:p>
        </p:txBody>
      </p:sp>
    </p:spTree>
    <p:extLst>
      <p:ext uri="{BB962C8B-B14F-4D97-AF65-F5344CB8AC3E}">
        <p14:creationId xmlns:p14="http://schemas.microsoft.com/office/powerpoint/2010/main" val="1327575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99E1C-31DB-46A8-3E90-96FC05241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34BED54-D3BF-0421-505A-0CA562085CF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8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F0C9F023-9C99-4D04-82A5-9EC0F92B39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C677C89-0AC1-A75C-664B-8B4E98652214}"/>
              </a:ext>
            </a:extLst>
          </p:cNvPr>
          <p:cNvSpPr/>
          <p:nvPr/>
        </p:nvSpPr>
        <p:spPr>
          <a:xfrm>
            <a:off x="35560" y="53405"/>
            <a:ext cx="12115800" cy="8534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rgbClr val="403E3E"/>
                </a:solidFill>
                <a:latin typeface="+mj-lt"/>
              </a:rPr>
              <a:t>Dataset</a:t>
            </a:r>
            <a:endParaRPr lang="en-US" sz="3600" dirty="0">
              <a:solidFill>
                <a:srgbClr val="403E3E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5E898B-102B-4FC8-DBC6-DA79ECB47DFA}"/>
              </a:ext>
            </a:extLst>
          </p:cNvPr>
          <p:cNvSpPr txBox="1"/>
          <p:nvPr/>
        </p:nvSpPr>
        <p:spPr>
          <a:xfrm>
            <a:off x="136978" y="991481"/>
            <a:ext cx="11912963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sz="2800" dirty="0"/>
              <a:t>The dataset contains various attributes such as:</a:t>
            </a:r>
          </a:p>
          <a:p>
            <a:pPr marL="2286000" lvl="4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Vibration (Hz)</a:t>
            </a:r>
          </a:p>
          <a:p>
            <a:pPr marL="2286000" lvl="4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Pollen Scent Complexity (1–10)</a:t>
            </a:r>
          </a:p>
          <a:p>
            <a:pPr marL="2286000" lvl="4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Bioluminescence Intensity (Lux)</a:t>
            </a:r>
          </a:p>
          <a:p>
            <a:pPr marL="2286000" lvl="4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Signal Strength (mV)</a:t>
            </a:r>
          </a:p>
          <a:p>
            <a:pPr marL="2286000" lvl="4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Rate (mm/day)</a:t>
            </a:r>
          </a:p>
          <a:p>
            <a:pPr marL="2286000" lvl="4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Ambient Temperature (°C)</a:t>
            </a:r>
          </a:p>
          <a:p>
            <a:pPr marL="2286000" lvl="4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Level (0–1 scale)</a:t>
            </a:r>
          </a:p>
          <a:p>
            <a:pPr marL="2286000" lvl="4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Sunlight Exposure (hours)</a:t>
            </a:r>
          </a:p>
          <a:p>
            <a:pPr marL="2286000" lvl="4" indent="-457200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Symbiotic Fungus Present (0/1)</a:t>
            </a:r>
          </a:p>
          <a:p>
            <a:pPr lvl="4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A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  will build and compare multiple classification models to predict the output label.</a:t>
            </a:r>
          </a:p>
          <a:p>
            <a:pPr lvl="4"/>
            <a:endParaRPr lang="en-AE" sz="2400" dirty="0"/>
          </a:p>
          <a:p>
            <a:pPr lvl="4"/>
            <a:endParaRPr lang="en-AE" sz="2400" dirty="0"/>
          </a:p>
        </p:txBody>
      </p:sp>
    </p:spTree>
    <p:extLst>
      <p:ext uri="{BB962C8B-B14F-4D97-AF65-F5344CB8AC3E}">
        <p14:creationId xmlns:p14="http://schemas.microsoft.com/office/powerpoint/2010/main" val="218863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4AD8D-EAA9-8CD1-F5D1-8DAB1F29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D862501-D194-5778-DCB3-8BB98F62968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8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34BED54-D3BF-0421-505A-0CA562085C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45152B6-052C-58A2-F8F3-6E02BD834F98}"/>
              </a:ext>
            </a:extLst>
          </p:cNvPr>
          <p:cNvSpPr/>
          <p:nvPr/>
        </p:nvSpPr>
        <p:spPr>
          <a:xfrm>
            <a:off x="35560" y="53405"/>
            <a:ext cx="12115800" cy="8534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rgbClr val="403E3E"/>
                </a:solidFill>
                <a:latin typeface="+mj-lt"/>
              </a:rPr>
              <a:t>Objective</a:t>
            </a:r>
            <a:endParaRPr lang="en-US" sz="3600" dirty="0">
              <a:solidFill>
                <a:srgbClr val="403E3E"/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9B01EF9-8E9A-88B4-0156-73FC81D61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1" y="654043"/>
            <a:ext cx="12115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altLang="en-US" sz="3600" dirty="0"/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classification algorithms 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 preprocessing and feature engineering 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web application using Django 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performance of different algorithms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F8DC530-B3C5-73F2-CEB8-DF04FEFB6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301" y="3649319"/>
            <a:ext cx="30886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Backend</a:t>
            </a:r>
          </a:p>
          <a:p>
            <a:endParaRPr lang="en-IN" sz="2800" b="1" dirty="0"/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800" dirty="0"/>
              <a:t> </a:t>
            </a:r>
          </a:p>
          <a:p>
            <a:r>
              <a:rPr lang="en-IN" sz="2800" dirty="0"/>
              <a:t>Django Framework </a:t>
            </a:r>
          </a:p>
          <a:p>
            <a:r>
              <a:rPr lang="en-IN" sz="2800" dirty="0"/>
              <a:t>Scikit-learn 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7202D92-2DB1-3B3C-1EE5-B60256379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420" y="3429000"/>
            <a:ext cx="308864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600" dirty="0"/>
          </a:p>
          <a:p>
            <a:r>
              <a:rPr lang="en-IN" sz="2800" b="1" dirty="0"/>
              <a:t>Frontend</a:t>
            </a:r>
          </a:p>
          <a:p>
            <a:endParaRPr lang="en-IN" sz="2800" b="1" dirty="0"/>
          </a:p>
          <a:p>
            <a:r>
              <a:rPr lang="en-IN" sz="2800" dirty="0"/>
              <a:t>HTML </a:t>
            </a:r>
          </a:p>
          <a:p>
            <a:r>
              <a:rPr lang="en-IN" sz="2800" dirty="0"/>
              <a:t>CSS / Bootstrap </a:t>
            </a:r>
          </a:p>
          <a:p>
            <a:r>
              <a:rPr lang="en-IN" sz="2800" dirty="0"/>
              <a:t>Django Templates</a:t>
            </a:r>
          </a:p>
          <a:p>
            <a:endParaRPr lang="en-IN" sz="1600" dirty="0"/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6C5FB21-7B6A-9B04-F48A-3F20139DE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1060" y="3420719"/>
            <a:ext cx="476758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600" dirty="0"/>
          </a:p>
          <a:p>
            <a:r>
              <a:rPr lang="en-IN" sz="2800" b="1" dirty="0"/>
              <a:t>Expected Output</a:t>
            </a:r>
          </a:p>
          <a:p>
            <a:endParaRPr lang="en-IN" sz="2800" b="1" dirty="0"/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/>
              <a:t>User login system 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/>
              <a:t>Data input form 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/>
              <a:t>Disease prediction output 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/>
              <a:t>Accuracy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lang="en-US" altLang="en-US" sz="2800" dirty="0"/>
              <a:t> of models </a:t>
            </a:r>
          </a:p>
        </p:txBody>
      </p:sp>
    </p:spTree>
    <p:extLst>
      <p:ext uri="{BB962C8B-B14F-4D97-AF65-F5344CB8AC3E}">
        <p14:creationId xmlns:p14="http://schemas.microsoft.com/office/powerpoint/2010/main" val="411626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FCFED-0EA8-89FC-4AE4-8CC4F744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57145C3-4EEA-C23B-9982-9320AD4D989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2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9827440-286F-3DF1-6292-2BFC2E0A34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B834C21-3C87-1935-E3BF-15FF9927D747}"/>
              </a:ext>
            </a:extLst>
          </p:cNvPr>
          <p:cNvSpPr/>
          <p:nvPr/>
        </p:nvSpPr>
        <p:spPr>
          <a:xfrm>
            <a:off x="35560" y="53405"/>
            <a:ext cx="12115800" cy="8534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rgbClr val="403E3E"/>
                </a:solidFill>
                <a:latin typeface="+mj-lt"/>
              </a:rPr>
              <a:t>Tasks</a:t>
            </a:r>
            <a:endParaRPr lang="en-US" sz="3600" dirty="0">
              <a:solidFill>
                <a:srgbClr val="403E3E"/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D5E8C4E-880F-CE29-D44F-94D5300F3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1" y="654043"/>
            <a:ext cx="1211579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altLang="en-US" sz="3600" dirty="0"/>
          </a:p>
          <a:p>
            <a:r>
              <a:rPr lang="en-IN" sz="3600" dirty="0"/>
              <a:t>Interns must implement </a:t>
            </a:r>
            <a:r>
              <a:rPr lang="en-IN" sz="3600" b="1" dirty="0"/>
              <a:t>at least 4 classification algorithms</a:t>
            </a:r>
            <a:r>
              <a:rPr lang="en-IN" sz="3600" dirty="0"/>
              <a:t> from the list below:</a:t>
            </a:r>
          </a:p>
          <a:p>
            <a:pPr marL="2400300" lvl="4" indent="-571500">
              <a:buFont typeface="Wingdings" panose="05000000000000000000" pitchFamily="2" charset="2"/>
              <a:buChar char="Ø"/>
            </a:pPr>
            <a:r>
              <a:rPr lang="en-IN" sz="3600" dirty="0"/>
              <a:t>Logistic Regression </a:t>
            </a:r>
          </a:p>
          <a:p>
            <a:pPr marL="2400300" lvl="4" indent="-571500">
              <a:buFont typeface="Wingdings" panose="05000000000000000000" pitchFamily="2" charset="2"/>
              <a:buChar char="Ø"/>
            </a:pPr>
            <a:r>
              <a:rPr lang="en-IN" sz="3600" dirty="0"/>
              <a:t>Decision Tree Classifier </a:t>
            </a:r>
          </a:p>
          <a:p>
            <a:pPr marL="2400300" lvl="4" indent="-571500">
              <a:buFont typeface="Wingdings" panose="05000000000000000000" pitchFamily="2" charset="2"/>
              <a:buChar char="Ø"/>
            </a:pPr>
            <a:r>
              <a:rPr lang="en-IN" sz="3600" dirty="0"/>
              <a:t>Random Forest Classifier </a:t>
            </a:r>
          </a:p>
          <a:p>
            <a:pPr marL="2400300" lvl="4" indent="-571500">
              <a:buFont typeface="Wingdings" panose="05000000000000000000" pitchFamily="2" charset="2"/>
              <a:buChar char="Ø"/>
            </a:pPr>
            <a:r>
              <a:rPr lang="en-IN" sz="3600" dirty="0"/>
              <a:t>Support Vector Machine (SVM) </a:t>
            </a:r>
          </a:p>
          <a:p>
            <a:pPr marL="2400300" lvl="4" indent="-571500">
              <a:buFont typeface="Wingdings" panose="05000000000000000000" pitchFamily="2" charset="2"/>
              <a:buChar char="Ø"/>
            </a:pPr>
            <a:r>
              <a:rPr lang="en-IN" sz="3600" dirty="0"/>
              <a:t>K-Nearest </a:t>
            </a:r>
            <a:r>
              <a:rPr lang="en-IN" sz="3600" dirty="0" err="1"/>
              <a:t>Neighbors</a:t>
            </a:r>
            <a:r>
              <a:rPr lang="en-IN" sz="3600" dirty="0"/>
              <a:t> (KNN) </a:t>
            </a:r>
          </a:p>
          <a:p>
            <a:pPr marL="2400300" lvl="4" indent="-571500">
              <a:buFont typeface="Wingdings" panose="05000000000000000000" pitchFamily="2" charset="2"/>
              <a:buChar char="Ø"/>
            </a:pPr>
            <a:r>
              <a:rPr lang="en-IN" sz="3600" dirty="0"/>
              <a:t>Naive Bayes</a:t>
            </a:r>
          </a:p>
        </p:txBody>
      </p:sp>
    </p:spTree>
    <p:extLst>
      <p:ext uri="{BB962C8B-B14F-4D97-AF65-F5344CB8AC3E}">
        <p14:creationId xmlns:p14="http://schemas.microsoft.com/office/powerpoint/2010/main" val="3757783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D68B2-3A2B-7071-4DCD-A94807789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9827440-286F-3DF1-6292-2BFC2E0A341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6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D862501-D194-5778-DCB3-8BB98F6296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EEEA64C-4730-2D17-BA8A-46E170A63175}"/>
              </a:ext>
            </a:extLst>
          </p:cNvPr>
          <p:cNvSpPr/>
          <p:nvPr/>
        </p:nvSpPr>
        <p:spPr>
          <a:xfrm>
            <a:off x="35560" y="53405"/>
            <a:ext cx="12115800" cy="8534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rgbClr val="403E3E"/>
                </a:solidFill>
                <a:latin typeface="+mj-lt"/>
              </a:rPr>
              <a:t>Tasks</a:t>
            </a:r>
            <a:endParaRPr lang="en-US" sz="3600" dirty="0">
              <a:solidFill>
                <a:srgbClr val="403E3E"/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38B5ADD-FE28-1AC6-26CE-2697216A7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" y="906845"/>
            <a:ext cx="615587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Web Application (Django)</a:t>
            </a:r>
          </a:p>
          <a:p>
            <a:r>
              <a:rPr lang="en-IN" sz="2000" dirty="0"/>
              <a:t>Interns must build a </a:t>
            </a:r>
            <a:r>
              <a:rPr lang="en-IN" sz="2000" b="1" dirty="0"/>
              <a:t>full-stack web application</a:t>
            </a:r>
            <a:r>
              <a:rPr lang="en-IN" sz="2000" dirty="0"/>
              <a:t> using Django.</a:t>
            </a:r>
          </a:p>
          <a:p>
            <a:endParaRPr lang="en-IN" sz="2000" dirty="0"/>
          </a:p>
          <a:p>
            <a:r>
              <a:rPr lang="en-IN" sz="2000" b="1" dirty="0"/>
              <a:t>Login Module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User Registration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Login Authentication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Session Management </a:t>
            </a:r>
          </a:p>
          <a:p>
            <a:endParaRPr lang="en-IN" sz="2000" dirty="0"/>
          </a:p>
          <a:p>
            <a:r>
              <a:rPr lang="en-IN" sz="2000" b="1" dirty="0"/>
              <a:t>Input Form Page</a:t>
            </a:r>
          </a:p>
          <a:p>
            <a:endParaRPr lang="en-IN" sz="2000" b="1" dirty="0"/>
          </a:p>
          <a:p>
            <a:r>
              <a:rPr lang="en-AE" sz="2000" dirty="0"/>
              <a:t>Build Django UI with input form of a</a:t>
            </a:r>
            <a:r>
              <a:rPr lang="en-IN" sz="2000" dirty="0" err="1"/>
              <a:t>ll</a:t>
            </a:r>
            <a:r>
              <a:rPr lang="en-IN" sz="2000" dirty="0"/>
              <a:t> Inputs  </a:t>
            </a:r>
          </a:p>
          <a:p>
            <a:endParaRPr lang="en-IN" sz="1600" dirty="0"/>
          </a:p>
          <a:p>
            <a:endParaRPr lang="en-IN" sz="1600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1E88E4F-C57E-61CC-20E5-DAB0CCF03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371" y="983045"/>
            <a:ext cx="642257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Prediction Module</a:t>
            </a:r>
          </a:p>
          <a:p>
            <a:endParaRPr lang="en-IN" sz="2000" b="1" dirty="0"/>
          </a:p>
          <a:p>
            <a:r>
              <a:rPr lang="en-IN" sz="2000" dirty="0"/>
              <a:t>Add a </a:t>
            </a:r>
            <a:r>
              <a:rPr lang="en-IN" sz="2000" b="1" dirty="0"/>
              <a:t>“Predict” button</a:t>
            </a:r>
            <a:r>
              <a:rPr lang="en-IN" sz="2000" dirty="0"/>
              <a:t> </a:t>
            </a:r>
          </a:p>
          <a:p>
            <a:r>
              <a:rPr lang="en-IN" sz="2000" dirty="0"/>
              <a:t>On submission: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Load trained ML models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Predict output label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Display result on UI </a:t>
            </a:r>
          </a:p>
          <a:p>
            <a:pPr lvl="1"/>
            <a:endParaRPr lang="en-IN" sz="2000" dirty="0"/>
          </a:p>
          <a:p>
            <a:r>
              <a:rPr lang="en-IN" sz="2000" b="1" dirty="0"/>
              <a:t>Results Display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Predicted Output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Accuracy of each algorithm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Best performing algorithm</a:t>
            </a:r>
          </a:p>
        </p:txBody>
      </p:sp>
    </p:spTree>
    <p:extLst>
      <p:ext uri="{BB962C8B-B14F-4D97-AF65-F5344CB8AC3E}">
        <p14:creationId xmlns:p14="http://schemas.microsoft.com/office/powerpoint/2010/main" val="362967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3F506-0994-652A-A7C2-0CF5D1673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8C55AEF1-7337-C9F4-84C2-23218136CEC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0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57145C3-4EEA-C23B-9982-9320AD4D98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6FE2D70-38E6-D8CD-78D0-621D54E342E0}"/>
              </a:ext>
            </a:extLst>
          </p:cNvPr>
          <p:cNvSpPr/>
          <p:nvPr/>
        </p:nvSpPr>
        <p:spPr>
          <a:xfrm>
            <a:off x="35560" y="53405"/>
            <a:ext cx="12115800" cy="8534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rgbClr val="403E3E"/>
                </a:solidFill>
                <a:latin typeface="+mj-lt"/>
              </a:rPr>
              <a:t>Important Questions</a:t>
            </a:r>
            <a:endParaRPr lang="en-US" sz="3600" dirty="0">
              <a:solidFill>
                <a:srgbClr val="403E3E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249A6-E810-BF4B-8D14-C737A3B2F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0560" y="733248"/>
            <a:ext cx="9601200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/>
              <a:t>What is classification in Machine Learning? How is it different from regression?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/>
              <a:t>Explain the importance of the output in this dataset.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/>
              <a:t>What is feature selection? Why is it important in this project?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/>
              <a:t>Explain the difference between supervised and unsupervised learning.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/>
              <a:t>What is overfitting and underfitting? How can it be avoided?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/>
              <a:t>What is the role of training and testing datasets?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AE" altLang="en-US" sz="2000" dirty="0"/>
              <a:t>Explain how Logistic Regression works for classification.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AE" altLang="en-US" sz="2000" dirty="0"/>
              <a:t>How does a Decision Tree decide splits?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AE" altLang="en-US" sz="2000" dirty="0"/>
              <a:t>What is the advantage of Random Forest over Decision Tree?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AE" altLang="en-US" sz="2000" dirty="0"/>
              <a:t>Explain how KNN works and its limitations.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AE" altLang="en-US" sz="2000" dirty="0"/>
              <a:t>What is the concept behind SVM (Support Vector Machine)?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AE" sz="2000" dirty="0"/>
              <a:t>What is a Confusion Matrix? Interpret it for your model.</a:t>
            </a:r>
            <a:endParaRPr lang="en-US" altLang="en-US" sz="2000" dirty="0"/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AE" altLang="en-US" sz="2000" dirty="0"/>
              <a:t>What preprocessing steps did you apply to the dataset?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AE" altLang="en-US" sz="2000" dirty="0"/>
              <a:t>How did you handle missing or inconsistent data?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AE" altLang="en-US" sz="2000" dirty="0"/>
              <a:t>Explain the flow of your Django application.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AE" altLang="en-US" sz="2000" dirty="0"/>
              <a:t>How does authentication (login system) work in your project?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AE" altLang="en-US" sz="2000" dirty="0"/>
              <a:t>What is the role of views, templates, and models in Django?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AE" altLang="en-US" sz="2000" dirty="0"/>
              <a:t>How is the prediction triggered from the frontend?</a:t>
            </a: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492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6E84F-10AC-6BC7-488C-4D4A9A878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08A54AFD-9D7A-B261-FCF2-3D268932A38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4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9827440-286F-3DF1-6292-2BFC2E0A34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404D098-E90D-6E62-C374-E14536057320}"/>
              </a:ext>
            </a:extLst>
          </p:cNvPr>
          <p:cNvSpPr/>
          <p:nvPr/>
        </p:nvSpPr>
        <p:spPr>
          <a:xfrm>
            <a:off x="35560" y="53405"/>
            <a:ext cx="12115800" cy="8534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rgbClr val="403E3E"/>
                </a:solidFill>
                <a:latin typeface="+mj-lt"/>
              </a:rPr>
              <a:t>Submission</a:t>
            </a:r>
            <a:r>
              <a:rPr lang="en-IN" sz="3600" dirty="0"/>
              <a:t> </a:t>
            </a:r>
            <a:r>
              <a:rPr lang="en-IN" sz="3600" dirty="0">
                <a:solidFill>
                  <a:srgbClr val="403E3E"/>
                </a:solidFill>
                <a:latin typeface="+mj-lt"/>
              </a:rPr>
              <a:t>Requirements </a:t>
            </a:r>
            <a:endParaRPr lang="en-US" sz="3600" dirty="0">
              <a:solidFill>
                <a:srgbClr val="403E3E"/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2455EBA-1713-3530-460B-D1787B6D4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7840" y="1094805"/>
            <a:ext cx="1012952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Interns must submit</a:t>
            </a:r>
          </a:p>
          <a:p>
            <a:endParaRPr lang="en-IN" sz="3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Internship Report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Source Code (Django + ML models)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Dataset (if modified)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Project Report (PDF) including: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/>
              <a:t>Problem Statement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/>
              <a:t>Methodology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/>
              <a:t>Algorithms Used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/>
              <a:t>Results &amp; Comparison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/>
              <a:t>Screenshots</a:t>
            </a:r>
          </a:p>
          <a:p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8014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10" descr="A picture containing sitting, large, water, white&#10;&#10;Description automatically generated">
            <a:extLst>
              <a:ext uri="{FF2B5EF4-FFF2-40B4-BE49-F238E27FC236}">
                <a16:creationId xmlns:a16="http://schemas.microsoft.com/office/drawing/2014/main" id="{A7556D4B-270E-4086-CD68-37526137C4C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39554" y="2792061"/>
            <a:ext cx="6478443" cy="3067705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9112C248-9561-3FDC-3034-C6865BCCE7FF}"/>
              </a:ext>
            </a:extLst>
          </p:cNvPr>
          <p:cNvSpPr/>
          <p:nvPr/>
        </p:nvSpPr>
        <p:spPr>
          <a:xfrm>
            <a:off x="4905341" y="2792061"/>
            <a:ext cx="6544200" cy="332001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#17,ATK complex,2</a:t>
            </a:r>
            <a:r>
              <a:rPr lang="en-IN" sz="2000" b="1" i="0" baseline="3000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nd</a:t>
            </a:r>
            <a:r>
              <a:rPr lang="en-IN" sz="20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and 4th Floor, Acharya college main road, beside Karur Vysya bank, Guttebasaveshwaranagar Chikkabanvara, Bengaluru, Karnataka 560090</a:t>
            </a:r>
            <a:endParaRPr lang="en-US" sz="2000" b="1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A1C3FD1-F35E-C5F0-42BE-5E7EEE44396D}"/>
              </a:ext>
            </a:extLst>
          </p:cNvPr>
          <p:cNvSpPr/>
          <p:nvPr/>
        </p:nvSpPr>
        <p:spPr>
          <a:xfrm>
            <a:off x="35560" y="53405"/>
            <a:ext cx="12115800" cy="8534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Contact US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EFC3B85-B66A-45C2-84B4-9067FFA5CA66}"/>
              </a:ext>
            </a:extLst>
          </p:cNvPr>
          <p:cNvSpPr/>
          <p:nvPr/>
        </p:nvSpPr>
        <p:spPr>
          <a:xfrm>
            <a:off x="4889447" y="3407758"/>
            <a:ext cx="6566122" cy="2015128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37C426A-D854-9357-986D-35C9560AAB04}"/>
              </a:ext>
            </a:extLst>
          </p:cNvPr>
          <p:cNvSpPr/>
          <p:nvPr/>
        </p:nvSpPr>
        <p:spPr>
          <a:xfrm>
            <a:off x="5889368" y="2850603"/>
            <a:ext cx="3945823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2400" b="1" dirty="0">
                <a:latin typeface="Karla" pitchFamily="2" charset="0"/>
              </a:rPr>
              <a:t>Location</a:t>
            </a:r>
            <a:endParaRPr lang="en-IN" sz="2400" b="1" dirty="0">
              <a:latin typeface="Karla" pitchFamily="2" charset="0"/>
            </a:endParaRPr>
          </a:p>
        </p:txBody>
      </p:sp>
      <p:pic>
        <p:nvPicPr>
          <p:cNvPr id="145" name="Picture 144" descr="A picture containing sitting, large, water, white&#10;&#10;Description automatically generated">
            <a:extLst>
              <a:ext uri="{FF2B5EF4-FFF2-40B4-BE49-F238E27FC236}">
                <a16:creationId xmlns:a16="http://schemas.microsoft.com/office/drawing/2014/main" id="{5722192D-AD4C-DC30-FBB8-E802F48BEF0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432" y="2792061"/>
            <a:ext cx="3553984" cy="3067705"/>
          </a:xfrm>
          <a:prstGeom prst="rect">
            <a:avLst/>
          </a:prstGeom>
        </p:spPr>
      </p:pic>
      <p:sp>
        <p:nvSpPr>
          <p:cNvPr id="146" name="Rectangle 145">
            <a:extLst>
              <a:ext uri="{FF2B5EF4-FFF2-40B4-BE49-F238E27FC236}">
                <a16:creationId xmlns:a16="http://schemas.microsoft.com/office/drawing/2014/main" id="{13EE11B1-5272-923E-6059-41FF1C115141}"/>
              </a:ext>
            </a:extLst>
          </p:cNvPr>
          <p:cNvSpPr/>
          <p:nvPr/>
        </p:nvSpPr>
        <p:spPr>
          <a:xfrm>
            <a:off x="716504" y="2792061"/>
            <a:ext cx="3590058" cy="332001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09902913646</a:t>
            </a:r>
          </a:p>
          <a:p>
            <a:pPr algn="ctr"/>
            <a:r>
              <a:rPr lang="en-IN" sz="3200" dirty="0">
                <a:solidFill>
                  <a:srgbClr val="202124"/>
                </a:solidFill>
                <a:latin typeface="arial" panose="020B0604020202020204" pitchFamily="34" charset="0"/>
              </a:rPr>
              <a:t>09964823646</a:t>
            </a:r>
          </a:p>
          <a:p>
            <a:pPr algn="ctr"/>
            <a:endParaRPr lang="en-US" sz="2000" b="1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67B3F15-416C-12B5-D79B-DC84B1F93D16}"/>
              </a:ext>
            </a:extLst>
          </p:cNvPr>
          <p:cNvSpPr/>
          <p:nvPr/>
        </p:nvSpPr>
        <p:spPr>
          <a:xfrm>
            <a:off x="729966" y="3407758"/>
            <a:ext cx="3578036" cy="2015128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3EFF857-B056-3065-3D91-2EC8F0F9C372}"/>
              </a:ext>
            </a:extLst>
          </p:cNvPr>
          <p:cNvSpPr/>
          <p:nvPr/>
        </p:nvSpPr>
        <p:spPr>
          <a:xfrm>
            <a:off x="1412615" y="2850603"/>
            <a:ext cx="2164624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2400" b="1" dirty="0">
                <a:latin typeface="Karla" pitchFamily="2" charset="0"/>
              </a:rPr>
              <a:t>Call Us</a:t>
            </a:r>
            <a:endParaRPr lang="en-IN" sz="2400" b="1" dirty="0">
              <a:latin typeface="Karla" pitchFamily="2" charset="0"/>
            </a:endParaRPr>
          </a:p>
        </p:txBody>
      </p:sp>
      <p:pic>
        <p:nvPicPr>
          <p:cNvPr id="149" name="Picture 148" descr="A picture containing sitting, large, water, white&#10;&#10;Description automatically generated">
            <a:extLst>
              <a:ext uri="{FF2B5EF4-FFF2-40B4-BE49-F238E27FC236}">
                <a16:creationId xmlns:a16="http://schemas.microsoft.com/office/drawing/2014/main" id="{DB3565FB-B09A-4B18-B345-A154F269C7D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90407" y="1221441"/>
            <a:ext cx="6465162" cy="1215720"/>
          </a:xfrm>
          <a:prstGeom prst="rect">
            <a:avLst/>
          </a:prstGeom>
        </p:spPr>
      </p:pic>
      <p:sp>
        <p:nvSpPr>
          <p:cNvPr id="150" name="Rectangle 149">
            <a:extLst>
              <a:ext uri="{FF2B5EF4-FFF2-40B4-BE49-F238E27FC236}">
                <a16:creationId xmlns:a16="http://schemas.microsoft.com/office/drawing/2014/main" id="{4C663905-6C16-766E-E691-35A7B1153393}"/>
              </a:ext>
            </a:extLst>
          </p:cNvPr>
          <p:cNvSpPr/>
          <p:nvPr/>
        </p:nvSpPr>
        <p:spPr>
          <a:xfrm>
            <a:off x="4924784" y="1221441"/>
            <a:ext cx="6566122" cy="142710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D" sz="3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n-ID" sz="3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karunadutechnologies</a:t>
            </a:r>
            <a:r>
              <a:rPr lang="en-ID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@gmail.com</a:t>
            </a:r>
            <a:endParaRPr lang="en-US" sz="3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95E73788-07A4-EF0F-35AF-31317C0AD4BC}"/>
              </a:ext>
            </a:extLst>
          </p:cNvPr>
          <p:cNvSpPr/>
          <p:nvPr/>
        </p:nvSpPr>
        <p:spPr>
          <a:xfrm>
            <a:off x="4842360" y="1727361"/>
            <a:ext cx="6678832" cy="477103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A70547A0-06F0-A8A5-DC98-592BDE551367}"/>
              </a:ext>
            </a:extLst>
          </p:cNvPr>
          <p:cNvSpPr/>
          <p:nvPr/>
        </p:nvSpPr>
        <p:spPr>
          <a:xfrm>
            <a:off x="4919734" y="1219679"/>
            <a:ext cx="6566122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2400" b="1" dirty="0">
                <a:latin typeface="Karla" pitchFamily="2" charset="0"/>
              </a:rPr>
              <a:t>Email Us</a:t>
            </a:r>
            <a:endParaRPr lang="en-IN" sz="2400" b="1" dirty="0">
              <a:latin typeface="Karla" pitchFamily="2" charset="0"/>
            </a:endParaRPr>
          </a:p>
        </p:txBody>
      </p:sp>
      <p:graphicFrame>
        <p:nvGraphicFramePr>
          <p:cNvPr id="153" name="Object 152">
            <a:extLst>
              <a:ext uri="{FF2B5EF4-FFF2-40B4-BE49-F238E27FC236}">
                <a16:creationId xmlns:a16="http://schemas.microsoft.com/office/drawing/2014/main" id="{3CA37BBC-DD27-4E01-EBE7-5B3A75B7AD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805799"/>
              </p:ext>
            </p:extLst>
          </p:nvPr>
        </p:nvGraphicFramePr>
        <p:xfrm>
          <a:off x="1696824" y="1154332"/>
          <a:ext cx="1629418" cy="1584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8" name="CorelDRAW" r:id="rId5" imgW="988381" imgH="987316" progId="CorelDraw.Graphic.16">
                  <p:embed/>
                </p:oleObj>
              </mc:Choice>
              <mc:Fallback>
                <p:oleObj name="CorelDRAW" r:id="rId5" imgW="988381" imgH="987316" progId="CorelDraw.Graphic.16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3D1128B8-8EE7-7879-7B6F-07BBEF08DF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6824" y="1154332"/>
                        <a:ext cx="1629418" cy="1584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5026B4F-17B4-0BAE-EA35-4CC12D5B33BC}"/>
              </a:ext>
            </a:extLst>
          </p:cNvPr>
          <p:cNvSpPr txBox="1"/>
          <p:nvPr/>
        </p:nvSpPr>
        <p:spPr>
          <a:xfrm>
            <a:off x="6268720" y="2186881"/>
            <a:ext cx="4578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www.karunadutechnologies.com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7488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AAF3E3-F3BA-644B-8F8B-236CE25FE37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" name="Freeform 32">
            <a:extLst>
              <a:ext uri="{FF2B5EF4-FFF2-40B4-BE49-F238E27FC236}">
                <a16:creationId xmlns:a16="http://schemas.microsoft.com/office/drawing/2014/main" id="{70FBFF96-269F-3A4E-86DC-C16EB8DBF5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3507773 w 12192000"/>
              <a:gd name="connsiteY1" fmla="*/ 0 h 6858000"/>
              <a:gd name="connsiteX2" fmla="*/ 1447800 w 12192000"/>
              <a:gd name="connsiteY2" fmla="*/ 6248400 h 6858000"/>
              <a:gd name="connsiteX3" fmla="*/ 6550627 w 12192000"/>
              <a:gd name="connsiteY3" fmla="*/ 6248400 h 6858000"/>
              <a:gd name="connsiteX4" fmla="*/ 861060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3507773" y="0"/>
                </a:lnTo>
                <a:lnTo>
                  <a:pt x="1447800" y="6248400"/>
                </a:lnTo>
                <a:lnTo>
                  <a:pt x="6550627" y="6248400"/>
                </a:lnTo>
                <a:lnTo>
                  <a:pt x="861060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D33E29A-17B1-3141-985C-610BFD762327}"/>
              </a:ext>
            </a:extLst>
          </p:cNvPr>
          <p:cNvSpPr/>
          <p:nvPr/>
        </p:nvSpPr>
        <p:spPr>
          <a:xfrm>
            <a:off x="1447800" y="0"/>
            <a:ext cx="7162800" cy="6248400"/>
          </a:xfrm>
          <a:prstGeom prst="parallelogram">
            <a:avLst>
              <a:gd name="adj" fmla="val 32968"/>
            </a:avLst>
          </a:prstGeom>
          <a:gradFill flip="none" rotWithShape="1">
            <a:gsLst>
              <a:gs pos="0">
                <a:schemeClr val="accent5"/>
              </a:gs>
              <a:gs pos="100000">
                <a:schemeClr val="accent4">
                  <a:alpha val="5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DAE701-87D0-4B4B-BC81-18F473C34158}"/>
              </a:ext>
            </a:extLst>
          </p:cNvPr>
          <p:cNvSpPr txBox="1">
            <a:spLocks/>
          </p:cNvSpPr>
          <p:nvPr/>
        </p:nvSpPr>
        <p:spPr>
          <a:xfrm>
            <a:off x="2355460" y="898052"/>
            <a:ext cx="9836540" cy="149579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 Interns for being a part of Internship Journey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982C53-0CBA-5A4A-86E8-0C20987ECEB8}"/>
              </a:ext>
            </a:extLst>
          </p:cNvPr>
          <p:cNvCxnSpPr>
            <a:cxnSpLocks/>
          </p:cNvCxnSpPr>
          <p:nvPr/>
        </p:nvCxnSpPr>
        <p:spPr>
          <a:xfrm flipV="1">
            <a:off x="0" y="3429000"/>
            <a:ext cx="12192000" cy="762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36">
            <a:extLst>
              <a:ext uri="{FF2B5EF4-FFF2-40B4-BE49-F238E27FC236}">
                <a16:creationId xmlns:a16="http://schemas.microsoft.com/office/drawing/2014/main" id="{43B2D4FE-DC35-E64E-9EA6-FE7484283C84}"/>
              </a:ext>
            </a:extLst>
          </p:cNvPr>
          <p:cNvSpPr/>
          <p:nvPr/>
        </p:nvSpPr>
        <p:spPr>
          <a:xfrm>
            <a:off x="6353254" y="6248400"/>
            <a:ext cx="5838746" cy="609600"/>
          </a:xfrm>
          <a:custGeom>
            <a:avLst/>
            <a:gdLst>
              <a:gd name="connsiteX0" fmla="*/ 200973 w 5838746"/>
              <a:gd name="connsiteY0" fmla="*/ 0 h 609600"/>
              <a:gd name="connsiteX1" fmla="*/ 5838746 w 5838746"/>
              <a:gd name="connsiteY1" fmla="*/ 0 h 609600"/>
              <a:gd name="connsiteX2" fmla="*/ 5838746 w 5838746"/>
              <a:gd name="connsiteY2" fmla="*/ 609600 h 609600"/>
              <a:gd name="connsiteX3" fmla="*/ 0 w 5838746"/>
              <a:gd name="connsiteY3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38746" h="609600">
                <a:moveTo>
                  <a:pt x="200973" y="0"/>
                </a:moveTo>
                <a:lnTo>
                  <a:pt x="5838746" y="0"/>
                </a:lnTo>
                <a:lnTo>
                  <a:pt x="5838746" y="609600"/>
                </a:lnTo>
                <a:lnTo>
                  <a:pt x="0" y="60960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4B09831A-1100-1BAF-468D-294199AA06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688051"/>
              </p:ext>
            </p:extLst>
          </p:nvPr>
        </p:nvGraphicFramePr>
        <p:xfrm>
          <a:off x="540139" y="763448"/>
          <a:ext cx="1815321" cy="1765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2" name="CorelDRAW" r:id="rId5" imgW="988381" imgH="987316" progId="CorelDraw.Graphic.16">
                  <p:embed/>
                </p:oleObj>
              </mc:Choice>
              <mc:Fallback>
                <p:oleObj name="CorelDRAW" r:id="rId5" imgW="988381" imgH="987316" progId="CorelDraw.Graphic.16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3D1128B8-8EE7-7879-7B6F-07BBEF08DF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0139" y="763448"/>
                        <a:ext cx="1815321" cy="1765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715B51-894A-3DEE-8B54-5624E018EB44}"/>
              </a:ext>
            </a:extLst>
          </p:cNvPr>
          <p:cNvSpPr txBox="1"/>
          <p:nvPr/>
        </p:nvSpPr>
        <p:spPr>
          <a:xfrm>
            <a:off x="436880" y="4779113"/>
            <a:ext cx="11318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99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Contact Karunadu Technologies Private Limited </a:t>
            </a:r>
          </a:p>
          <a:p>
            <a:pPr algn="ctr"/>
            <a:r>
              <a:rPr lang="en-US" sz="3600" b="1" dirty="0">
                <a:solidFill>
                  <a:srgbClr val="FF99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Internship </a:t>
            </a:r>
          </a:p>
        </p:txBody>
      </p:sp>
    </p:spTree>
    <p:extLst>
      <p:ext uri="{BB962C8B-B14F-4D97-AF65-F5344CB8AC3E}">
        <p14:creationId xmlns:p14="http://schemas.microsoft.com/office/powerpoint/2010/main" val="21373513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cfXOqYtZIwjn.KCVDk5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BBOC9BprqMdNtcYEXKFU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IFArVL.DeOOXVc5P4RAx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K5ABAoYQ7P94TI78Qoh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500ps.UB5gx63fzRFdDj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9SOX6z6TmiJrtpEZPUnq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v8Ke_bBdwbDcySV3NOKV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oGnvVz38fyDwzX9uomS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OC6JjGHxclOcC9mpfuo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_96fGnV7maXJXeezgN0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lMmChe9DXzjBbC6Ns.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Custom 1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F3A40"/>
      </a:accent1>
      <a:accent2>
        <a:srgbClr val="48CAD9"/>
      </a:accent2>
      <a:accent3>
        <a:srgbClr val="F2F2F2"/>
      </a:accent3>
      <a:accent4>
        <a:srgbClr val="D9B166"/>
      </a:accent4>
      <a:accent5>
        <a:srgbClr val="BF863F"/>
      </a:accent5>
      <a:accent6>
        <a:srgbClr val="FFFFFF"/>
      </a:accent6>
      <a:hlink>
        <a:srgbClr val="0563C1"/>
      </a:hlink>
      <a:folHlink>
        <a:srgbClr val="954F72"/>
      </a:folHlink>
    </a:clrScheme>
    <a:fontScheme name="Custom 20">
      <a:majorFont>
        <a:latin typeface="Segoe UI 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3182</TotalTime>
  <Words>686</Words>
  <Application>Microsoft Office PowerPoint</Application>
  <PresentationFormat>Widescreen</PresentationFormat>
  <Paragraphs>143</Paragraphs>
  <Slides>11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Arial</vt:lpstr>
      <vt:lpstr>Calibri</vt:lpstr>
      <vt:lpstr>Georgia</vt:lpstr>
      <vt:lpstr>Karla</vt:lpstr>
      <vt:lpstr>Segoe UI</vt:lpstr>
      <vt:lpstr>Segoe UI Bold</vt:lpstr>
      <vt:lpstr>Segoe UI Light</vt:lpstr>
      <vt:lpstr>Times New Roman</vt:lpstr>
      <vt:lpstr>Wingdings</vt:lpstr>
      <vt:lpstr>Office Theme</vt:lpstr>
      <vt:lpstr>think-cell Slide</vt:lpstr>
      <vt:lpstr>CorelDRAW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KarunaduTechnologies Pvt Ltd</dc:creator>
  <cp:lastModifiedBy>mahesh deginal</cp:lastModifiedBy>
  <cp:revision>299</cp:revision>
  <dcterms:created xsi:type="dcterms:W3CDTF">2019-08-16T12:08:31Z</dcterms:created>
  <dcterms:modified xsi:type="dcterms:W3CDTF">2026-03-29T17:03:38Z</dcterms:modified>
</cp:coreProperties>
</file>